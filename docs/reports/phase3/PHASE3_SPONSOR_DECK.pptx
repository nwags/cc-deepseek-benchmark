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github.com/nwags/cc-deepseek-benchmark/tree/phase3/configs/arms/" TargetMode="External"/><Relationship Id="rId4" Type="http://schemas.openxmlformats.org/officeDocument/2006/relationships/hyperlink" Target="https://github.com/nwags/cc-deepseek-benchmark/tree/phase3/docs/reports/phase3/PHASE3_CANARY_EVIDENCE.md" TargetMode="External"/><Relationship Id="rId7" Type="http://schemas.openxmlformats.org/officeDocument/2006/relationships/hyperlink" Target="https://github.com/nwags/cc-deepseek-benchmark/tree/phase3/docs/reports/phase3/PHASE3_SPONSOR_BRIEFING_SUPPORT.md" TargetMode="External"/><Relationship Id="rId8" Type="http://schemas.openxmlformats.org/officeDocument/2006/relationships/hyperlink" Target="https://github.com/nwags/cc-deepseek-benchmark/tree/phase3/docs/reports/phase3/PHASE3_EXECUTIVE_DASHBOARD_SPEC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nwags/cc-deepseek-benchmark/blob/phase3/figures/phase3/deck_assets/phase_3_router_benchmark_architecture_diagram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nwags/cc-deepseek-benchmark/blob/phase3/figures/phase3/deck_assets/benchmark_contamination_risks_and_mitigations.p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nwags/cc-deepseek-benchmark/blob/phase3/figures/phase3/deck_assets/phase_3_canary_cost_breakdown.p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github.com/nwags/cc-deepseek-benchmark/blob/phase3/results/phase3/supplemental/phase3_cost_forecast_summary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nwags/cc-deepseek-benchmark/blob/phase3/figures/phase3/deck_assets/phase_3_metrics_plan_overview.pn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hyperlink" Target="https://github.com/nwags/cc-deepseek-benchmark/tree/phase3/docs/reports/phase3/PHASE3_CANARY_EVIDENCE.md" TargetMode="External"/><Relationship Id="rId13" Type="http://schemas.openxmlformats.org/officeDocument/2006/relationships/hyperlink" Target="https://github.com/nwags/cc-deepseek-benchmark/blob/phase3/results/phase3/supplemental/canary_ledger.csv" TargetMode="External"/><Relationship Id="rId14" Type="http://schemas.openxmlformats.org/officeDocument/2006/relationships/hyperlink" Target="https://github.com/nwags/cc-deepseek-benchmark/blob/phase3/results/phase3/supplemental/canary_ledger.json" TargetMode="External"/><Relationship Id="rId15" Type="http://schemas.openxmlformats.org/officeDocument/2006/relationships/hyperlink" Target="https://github.com/nwags/cc-deepseek-benchmark/blob/phase3/results/phase3/supplemental/phase3_cost_forecast_canary_scaled.csv" TargetMode="External"/><Relationship Id="rId16" Type="http://schemas.openxmlformats.org/officeDocument/2006/relationships/hyperlink" Target="https://github.com/nwags/cc-deepseek-benchmark/blob/phase3/results/phase3/supplemental/phase3_cost_forecast_summary.json" TargetMode="External"/><Relationship Id="rId17" Type="http://schemas.openxmlformats.org/officeDocument/2006/relationships/hyperlink" Target="https://github.com/nwags/cc-deepseek-benchmark/blob/phase3/configs/router/litellm.config.yaml.example" TargetMode="External"/><Relationship Id="rId18" Type="http://schemas.openxmlformats.org/officeDocument/2006/relationships/hyperlink" Target="https://github.com/nwags/cc-deepseek-benchmark/tree/phase3/configs/arms/" TargetMode="External"/><Relationship Id="rId19" Type="http://schemas.openxmlformats.org/officeDocument/2006/relationships/hyperlink" Target="https://github.com/nwags/cc-deepseek-benchmark/tree/phase3/BENCHMARK_CONTAMINATION.md" TargetMode="External"/><Relationship Id="rId20" Type="http://schemas.openxmlformats.org/officeDocument/2006/relationships/hyperlink" Target="https://github.com/nwags/cc-deepseek-benchmark/tree/phase3/RUNBOOK.md" TargetMode="External"/><Relationship Id="rId21" Type="http://schemas.openxmlformats.org/officeDocument/2006/relationships/hyperlink" Target="https://github.com/nwags/cc-deepseek-benchmark/tree/phase3/ARTIFACT_POLICY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 sz="2300" b="1">
                <a:solidFill>
                  <a:srgbClr val="0B1020"/>
                </a:solidFill>
                <a:latin typeface="Arial"/>
              </a:rPr>
              <a:t>Phase 3 Router Benchmark: Canary-Green, Multi-Provider, Ready for Funded 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00" b="0">
                <a:solidFill>
                  <a:srgbClr val="475569"/>
                </a:solidFill>
                <a:latin typeface="Aptos"/>
              </a:defRPr>
            </a:pPr>
            <a:r>
              <a:rPr sz="950">
                <a:solidFill>
                  <a:srgbClr val="475569"/>
                </a:solidFill>
                <a:latin typeface="Arial"/>
              </a:rPr>
              <a:t>Claude Code remains fixed; LiteLLM routes the same benchmark flow across 13 canary-green arms spanning 8 provider families.</a:t>
            </a:r>
          </a:p>
        </p:txBody>
      </p:sp>
      <p:sp>
        <p:nvSpPr>
          <p:cNvPr id="4" name="Rounded Rectangle 3">
            <a:hlinkClick r:id="rId4"/>
          </p:cNvPr>
          <p:cNvSpPr/>
          <p:nvPr/>
        </p:nvSpPr>
        <p:spPr>
          <a:xfrm>
            <a:off x="594360" y="1207008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READY 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20">
                <a:solidFill>
                  <a:srgbClr val="0B1020"/>
                </a:solidFill>
                <a:latin typeface="Arial"/>
              </a:rPr>
              <a:t>Active router arms passed the canary task.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3429000" y="1207008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325880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PROVIDER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 sz="2000" b="1">
                <a:solidFill>
                  <a:srgbClr val="1D4ED8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3852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20">
                <a:solidFill>
                  <a:srgbClr val="0B1020"/>
                </a:solidFill>
                <a:latin typeface="Arial"/>
              </a:rPr>
              <a:t>Anthropic, DeepSeek, Gemini, OpenAI, xAI, Moonshot, DashScope, Z.AI.</a:t>
            </a:r>
          </a:p>
        </p:txBody>
      </p:sp>
      <p:sp>
        <p:nvSpPr>
          <p:cNvPr id="12" name="Rounded Rectangle 11">
            <a:hlinkClick r:id="rId7"/>
          </p:cNvPr>
          <p:cNvSpPr/>
          <p:nvPr/>
        </p:nvSpPr>
        <p:spPr>
          <a:xfrm>
            <a:off x="6263640" y="1207008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5-TASK SMOKE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9E0B"/>
                </a:solidFill>
                <a:latin typeface="Aptos"/>
              </a:defRPr>
            </a:pPr>
            <a:r>
              <a:rPr sz="2000" b="1">
                <a:solidFill>
                  <a:srgbClr val="F59E0B"/>
                </a:solidFill>
                <a:latin typeface="Arial"/>
              </a:rPr>
              <a:t>$44.72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20">
                <a:solidFill>
                  <a:srgbClr val="0B1020"/>
                </a:solidFill>
                <a:latin typeface="Arial"/>
              </a:rPr>
              <a:t>Canary-scaled estimate; recommended 2x reserve: $89.44.</a:t>
            </a: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9098280" y="1207008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25880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CONTAMINATION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57276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38528"/>
            <a:ext cx="2331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20">
                <a:solidFill>
                  <a:srgbClr val="0B1020"/>
                </a:solidFill>
                <a:latin typeface="Arial"/>
              </a:rPr>
              <a:t>No WebSearch/WebFetch events in passing canaries.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70632"/>
            <a:ext cx="219456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0B1020"/>
                </a:solidFill>
                <a:latin typeface="Aptos"/>
              </a:defRPr>
            </a:pPr>
            <a:r>
              <a:rPr sz="1400" b="1">
                <a:solidFill>
                  <a:srgbClr val="0B1020"/>
                </a:solidFill>
                <a:latin typeface="Arial"/>
              </a:rPr>
              <a:t>Decision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72968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300984"/>
            <a:ext cx="22860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STEP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575304"/>
            <a:ext cx="228600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 sz="1600" b="1">
                <a:solidFill>
                  <a:srgbClr val="1D4ED8"/>
                </a:solidFill>
                <a:latin typeface="Arial"/>
              </a:rPr>
              <a:t>Fund 5-task smoke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087368"/>
            <a:ext cx="2286000" cy="45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160520" y="3172968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6824" y="3300984"/>
            <a:ext cx="22860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3575304"/>
            <a:ext cx="228600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 sz="1600" b="1">
                <a:solidFill>
                  <a:srgbClr val="1D4ED8"/>
                </a:solidFill>
                <a:latin typeface="Arial"/>
              </a:rPr>
              <a:t>Replace estimates with smoke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4087368"/>
            <a:ext cx="2286000" cy="45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7635240" y="3172968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3300984"/>
            <a:ext cx="22860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544" y="3575304"/>
            <a:ext cx="228600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 sz="1600" b="1">
                <a:solidFill>
                  <a:srgbClr val="1D4ED8"/>
                </a:solidFill>
                <a:latin typeface="Arial"/>
              </a:rPr>
              <a:t>Approve, resize, or defer full 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544" y="4087368"/>
            <a:ext cx="2286000" cy="45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31520" y="4507992"/>
            <a:ext cx="10424160" cy="53035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700" b="1">
                <a:solidFill>
                  <a:srgbClr val="0B1020"/>
                </a:solidFill>
                <a:latin typeface="Aptos"/>
              </a:defRPr>
            </a:pPr>
            <a:r>
              <a:rPr sz="1300" b="1">
                <a:solidFill>
                  <a:srgbClr val="0B1020"/>
                </a:solidFill>
                <a:latin typeface="Arial"/>
              </a:rPr>
              <a:t>Core message: Phase 3 is operational enough for funded smoke testing, but the full sweep should wait until smoke results replace canary-scaled estimates.</a:t>
            </a:r>
          </a:p>
        </p:txBody>
      </p:sp>
      <p:sp>
        <p:nvSpPr>
          <p:cNvPr id="34" name="Rounded Rectangle 33">
            <a:hlinkClick r:id="rId4"/>
          </p:cNvPr>
          <p:cNvSpPr/>
          <p:nvPr/>
        </p:nvSpPr>
        <p:spPr>
          <a:xfrm>
            <a:off x="731520" y="5193792"/>
            <a:ext cx="1783080" cy="402336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35" name="TextBox 34">
            <a:hlinkClick r:id="rId4"/>
          </p:cNvPr>
          <p:cNvSpPr txBox="1"/>
          <p:nvPr/>
        </p:nvSpPr>
        <p:spPr>
          <a:xfrm>
            <a:off x="731520" y="5193792"/>
            <a:ext cx="17830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norm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tos"/>
                <a:hlinkClick r:id="rId4"/>
              </a:rPr>
              <a:t>Evidence ledger</a:t>
            </a:r>
          </a:p>
        </p:txBody>
      </p:sp>
      <p:sp>
        <p:nvSpPr>
          <p:cNvPr id="36" name="Rounded Rectangle 35">
            <a:hlinkClick r:id="rId7"/>
          </p:cNvPr>
          <p:cNvSpPr/>
          <p:nvPr/>
        </p:nvSpPr>
        <p:spPr>
          <a:xfrm>
            <a:off x="2834640" y="5193792"/>
            <a:ext cx="1783080" cy="402336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37" name="TextBox 36">
            <a:hlinkClick r:id="rId7"/>
          </p:cNvPr>
          <p:cNvSpPr txBox="1"/>
          <p:nvPr/>
        </p:nvSpPr>
        <p:spPr>
          <a:xfrm>
            <a:off x="2834640" y="5193792"/>
            <a:ext cx="178308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norm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tos"/>
                <a:hlinkClick r:id="rId7"/>
              </a:rPr>
              <a:t>Cost summary</a:t>
            </a:r>
          </a:p>
        </p:txBody>
      </p:sp>
      <p:sp>
        <p:nvSpPr>
          <p:cNvPr id="38" name="Rounded Rectangle 37">
            <a:hlinkClick r:id="rId8"/>
          </p:cNvPr>
          <p:cNvSpPr/>
          <p:nvPr/>
        </p:nvSpPr>
        <p:spPr>
          <a:xfrm>
            <a:off x="4937760" y="5193792"/>
            <a:ext cx="1920240" cy="402336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39" name="TextBox 38">
            <a:hlinkClick r:id="rId8"/>
          </p:cNvPr>
          <p:cNvSpPr txBox="1"/>
          <p:nvPr/>
        </p:nvSpPr>
        <p:spPr>
          <a:xfrm>
            <a:off x="4937760" y="5193792"/>
            <a:ext cx="1920240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norm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tos"/>
                <a:hlinkClick r:id="rId8"/>
              </a:rPr>
              <a:t>Dashboard 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From Three-Arm Baseline to Multi-Provider Router Harness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45720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PHASE 1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457200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>
                <a:latin typeface="Arial"/>
              </a:rPr>
              <a:t>3 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457200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Anthropic Sonnet, DeepSeek Pro, DeepSeek Flash. Claude Code fixed as the agent harness. Harbor ran Terminal-Bench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3444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353312"/>
            <a:ext cx="45720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PHASE 3 ROUTER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18488"/>
            <a:ext cx="457200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>
                <a:latin typeface="Arial"/>
              </a:rPr>
              <a:t>13 green 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84832"/>
            <a:ext cx="457200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LiteLLM routes the same benchmark flow across 8 provider families. Canary-first execution catches auth, route, quota, schema, and tool-mode 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6070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30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Continuity: Claude Code remains the fixed harness.</a:t>
            </a:r>
          </a:p>
          <a:p>
            <a:pPr>
              <a:defRPr sz="130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Change: model/provider coverage expands through LiteLLM.</a:t>
            </a:r>
          </a:p>
          <a:p>
            <a:pPr>
              <a:defRPr sz="130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Methodology: results remain separated under results/phase3.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Phase 3 Router Benchmark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10642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00" b="0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Request and response flow is bidirectional between Claude Code, LiteLLM, and provider backends.</a:t>
            </a:r>
          </a:p>
        </p:txBody>
      </p:sp>
      <p:pic>
        <p:nvPicPr>
          <p:cNvPr id="4" name="Picture 3" descr="phase_3_router_benchmark_architecture_diagram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24" y="960120"/>
            <a:ext cx="942347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247120" cy="6217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 sz="2200" b="1">
                <a:solidFill>
                  <a:srgbClr val="0B1020"/>
                </a:solidFill>
                <a:latin typeface="Arial"/>
              </a:rPr>
              <a:t>Canary Gate: Infrastructure Readiness, Not Final Model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4617720" cy="4023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00">
                <a:solidFill>
                  <a:srgbClr val="0B1020"/>
                </a:solidFill>
                <a:latin typeface="Aptos"/>
              </a:defRPr>
            </a:pPr>
            <a:r>
              <a:rPr sz="1400">
                <a:solidFill>
                  <a:srgbClr val="0B1020"/>
                </a:solidFill>
                <a:latin typeface="Arial"/>
              </a:rPr>
              <a:t>Current gate uses Terminal-Bench 2.0 task modernize-scientific-stack.</a:t>
            </a:r>
          </a:p>
          <a:p>
            <a:pPr>
              <a:defRPr sz="1500">
                <a:solidFill>
                  <a:srgbClr val="0B1020"/>
                </a:solidFill>
                <a:latin typeface="Aptos"/>
              </a:defRPr>
            </a:pPr>
            <a:r>
              <a:rPr sz="1400">
                <a:solidFill>
                  <a:srgbClr val="0B1020"/>
                </a:solidFill>
                <a:latin typeface="Arial"/>
              </a:rPr>
              <a:t>The task exercises read, write, execute, verify, routing, results, and audit flow.</a:t>
            </a:r>
          </a:p>
          <a:p>
            <a:pPr>
              <a:defRPr sz="1500">
                <a:solidFill>
                  <a:srgbClr val="0B1020"/>
                </a:solidFill>
                <a:latin typeface="Aptos"/>
              </a:defRPr>
            </a:pPr>
            <a:r>
              <a:rPr sz="1400">
                <a:solidFill>
                  <a:srgbClr val="0B1020"/>
                </a:solidFill>
                <a:latin typeface="Arial"/>
              </a:rPr>
              <a:t>A canary pass means routing/config/tool controls are ready for smoke.</a:t>
            </a:r>
          </a:p>
          <a:p>
            <a:pPr>
              <a:defRPr sz="1500">
                <a:solidFill>
                  <a:srgbClr val="0B1020"/>
                </a:solidFill>
                <a:latin typeface="Aptos"/>
              </a:defRPr>
            </a:pPr>
            <a:r>
              <a:rPr sz="1400">
                <a:solidFill>
                  <a:srgbClr val="0B1020"/>
                </a:solidFill>
                <a:latin typeface="Arial"/>
              </a:rPr>
              <a:t>It does not rank model quality across the full Terminal-Bench distribution.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124712"/>
            <a:ext cx="4800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19672" y="1261872"/>
            <a:ext cx="43891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PASS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9672" y="1517904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1800" b="1">
                <a:solidFill>
                  <a:srgbClr val="22C55E"/>
                </a:solidFill>
                <a:latin typeface="Arial"/>
              </a:rPr>
              <a:t>End-to-end path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1892807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800">
                <a:solidFill>
                  <a:srgbClr val="0B1020"/>
                </a:solidFill>
                <a:latin typeface="Arial"/>
              </a:rPr>
              <a:t>Harbor -&gt; Claude Code -&gt; LiteLLM -&gt; provider -&gt; results -&gt;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87752"/>
            <a:ext cx="4800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724912"/>
            <a:ext cx="43891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FAIL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980944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9E0B"/>
                </a:solidFill>
                <a:latin typeface="Aptos"/>
              </a:defRPr>
            </a:pPr>
            <a:r>
              <a:rPr sz="1600" b="1">
                <a:solidFill>
                  <a:srgbClr val="F59E0B"/>
                </a:solidFill>
                <a:latin typeface="Arial"/>
              </a:rPr>
              <a:t>Classify before spending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3355848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800">
                <a:solidFill>
                  <a:srgbClr val="0B1020"/>
                </a:solidFill>
                <a:latin typeface="Arial"/>
              </a:rPr>
              <a:t>Auth, quota, route, model slug, schema, tool-mode, or benchmark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050791"/>
            <a:ext cx="4800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187952"/>
            <a:ext cx="43891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 sz="700" b="1">
                <a:solidFill>
                  <a:srgbClr val="0B1020"/>
                </a:solidFill>
                <a:latin typeface="Arial"/>
              </a:rPr>
              <a:t>NEXT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4443983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 sz="1800" b="1">
                <a:solidFill>
                  <a:srgbClr val="1D4ED8"/>
                </a:solidFill>
                <a:latin typeface="Arial"/>
              </a:rPr>
              <a:t>5-task smoke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4818888"/>
            <a:ext cx="43891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800">
                <a:solidFill>
                  <a:srgbClr val="0B1020"/>
                </a:solidFill>
                <a:latin typeface="Arial"/>
              </a:rPr>
              <a:t>Use representative multi-task evidence to replace canary-scaled cost estimates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Current Canary-Green Model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10642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00" b="0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13 active router arms spanning 8 provider families.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1060704"/>
            <a:ext cx="9784080" cy="31089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1115568"/>
            <a:ext cx="2889503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ptos"/>
              </a:rPr>
              <a:t>Arm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4447" y="1115568"/>
            <a:ext cx="14264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ptos"/>
              </a:rPr>
              <a:t>Provider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38928" y="1115568"/>
            <a:ext cx="293522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ptos"/>
              </a:rPr>
              <a:t>Backend model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2168" y="1115568"/>
            <a:ext cx="923543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ptos"/>
              </a:rPr>
              <a:t>Cost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53728" y="1115568"/>
            <a:ext cx="9692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ptos"/>
              </a:rPr>
              <a:t>Runtime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1371600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1435608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40" b="0">
                <a:solidFill>
                  <a:srgbClr val="0F172A"/>
                </a:solidFill>
                <a:latin typeface="Aptos"/>
              </a:rPr>
              <a:t>router-anthropic-haiku-sanitized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84447" y="1435608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anthropic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38928" y="1435608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claude-haiku-4-5-20251001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02168" y="1435608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$0.315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1435608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486.1s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1728216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6928" y="1792224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router-anthropic-opus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84447" y="1792224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anthropic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38928" y="1792224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claude-opus-4-7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8" y="1792224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$0.315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53728" y="1792224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289.3s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2084832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" y="2148840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router-anthropic-sonnet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84447" y="2148840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anthropic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38928" y="2148840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claude-sonnet-4-6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02168" y="2148840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$0.293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53728" y="2148840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82.3s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2441448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2505456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router-deepseek-flash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84447" y="2505456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deepseek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38928" y="2505456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deepseek-v4-flash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02168" y="2505456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$0.115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53728" y="2505456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252.2s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2798064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" y="2862072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router-deepseek-pro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84447" y="2862072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deepseek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38928" y="2862072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deepseek-v4-pro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02168" y="2862072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$0.092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53728" y="2862072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425.1s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2920" y="3154680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66928" y="3218688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router-gemini-3.1-pro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84447" y="3218688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70" b="0">
                <a:solidFill>
                  <a:srgbClr val="0F172A"/>
                </a:solidFill>
                <a:latin typeface="Aptos"/>
              </a:rPr>
              <a:t>google-gemini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38928" y="3218688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gemini-3.1-pro-preview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02168" y="3218688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$0.291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53728" y="3218688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129.3s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2920" y="3511296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66928" y="3575303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router-gemini-flash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7" y="3575303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70" b="0">
                <a:solidFill>
                  <a:srgbClr val="0F172A"/>
                </a:solidFill>
                <a:latin typeface="Aptos"/>
              </a:rPr>
              <a:t>google-gemini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38928" y="3575303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gemini-3.5-flash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02168" y="3575303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$2.451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253728" y="3575303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150.9s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02920" y="3867912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6928" y="3931920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router-glm-5.1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84447" y="3931920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zai-glm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38928" y="3931920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glm-5.1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02168" y="3931920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$0.107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53728" y="3931920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135.8s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4224528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66928" y="4288536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router-gpt-5.4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84447" y="4288536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openai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38928" y="4288536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gpt-5.4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02168" y="4288536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$0.799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53728" y="4288536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115.2s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4581144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6928" y="4645152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router-gpt-5.5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84447" y="4645152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openai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38928" y="4645152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gpt-5.5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02168" y="4645152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$2.547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53728" y="4645152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165.1s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4937760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66928" y="5001768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router-grok-build-0.1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84447" y="5001768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xai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38928" y="5001768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grok-build-0.1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02168" y="5001768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$0.710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253728" y="5001768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103.0s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02920" y="5294376"/>
            <a:ext cx="9784080" cy="356616"/>
          </a:xfrm>
          <a:prstGeom prst="rect">
            <a:avLst/>
          </a:prstGeom>
          <a:solidFill>
            <a:srgbClr val="EFF6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6928" y="5358384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router-kimi-k2.6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84447" y="5358384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70" b="0">
                <a:solidFill>
                  <a:srgbClr val="0F172A"/>
                </a:solidFill>
                <a:latin typeface="Aptos"/>
              </a:rPr>
              <a:t>moonshot-kimi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38928" y="5358384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kimi-k2.6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02168" y="5358384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$0.465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253728" y="5358384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198.0s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2920" y="5650992"/>
            <a:ext cx="9784080" cy="356616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6928" y="5715000"/>
            <a:ext cx="288950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router-qwen-3.7-plus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584447" y="5715000"/>
            <a:ext cx="14264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70" b="0">
                <a:solidFill>
                  <a:srgbClr val="0F172A"/>
                </a:solidFill>
                <a:latin typeface="Aptos"/>
              </a:rPr>
              <a:t>dashscope-qwen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38928" y="5715000"/>
            <a:ext cx="29352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0">
                <a:solidFill>
                  <a:srgbClr val="0F172A"/>
                </a:solidFill>
                <a:latin typeface="Aptos"/>
              </a:rPr>
              <a:t>qwen3.7-plus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02168" y="5715000"/>
            <a:ext cx="9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1D4ED8"/>
                </a:solidFill>
                <a:latin typeface="Aptos"/>
              </a:rPr>
              <a:t>$0.444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253728" y="5715000"/>
            <a:ext cx="9692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0">
                <a:solidFill>
                  <a:srgbClr val="0F172A"/>
                </a:solidFill>
                <a:latin typeface="Aptos"/>
              </a:rPr>
              <a:t>149.8s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520439" y="1060704"/>
            <a:ext cx="7315" cy="494690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074920" y="1060704"/>
            <a:ext cx="7315" cy="494690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38160" y="1060704"/>
            <a:ext cx="7315" cy="494690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189720" y="1060704"/>
            <a:ext cx="7315" cy="494690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Provider-Specific Engineering Lessons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Route correction and no-plan tool mitigation were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61872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2704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93392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Router validation completed; costs need smoke confirmation.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1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Qwen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4436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Singapore endpoint and model-access normalization were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6032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79191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xAI Grok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10712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Funding/access recovery and model selection unblocked canary.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1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Moonshot Kimi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6168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28031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Temperature/max-token behavior matters for direct probes.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77639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96511"/>
            <a:ext cx="47091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Z.AI GLM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61688"/>
            <a:ext cx="470916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 sz="2000" b="1">
                <a:solidFill>
                  <a:srgbClr val="22C55E"/>
                </a:solidFill>
                <a:latin typeface="Arial"/>
              </a:rPr>
              <a:t>Resolved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28031"/>
            <a:ext cx="470916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 sz="750">
                <a:solidFill>
                  <a:srgbClr val="0B1020"/>
                </a:solidFill>
                <a:latin typeface="Arial"/>
              </a:rPr>
              <a:t>Funding/access recovery and model update unblocked canary.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4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Interpretation: these were infrastructure learnings unless the model actually ran and failed the benchmark task.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Benchmark Contamination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10642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00" b="0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Contamination risk is treated as a first-class control, not an afterthought.</a:t>
            </a:r>
          </a:p>
        </p:txBody>
      </p:sp>
      <p:pic>
        <p:nvPicPr>
          <p:cNvPr id="4" name="Picture 3" descr="benchmark_contamination_risks_and_mitigation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24" y="960120"/>
            <a:ext cx="942347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Canary Cost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10642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00" b="0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Canary costs reveal budget drivers before smoke/full-sweep funding.</a:t>
            </a:r>
          </a:p>
        </p:txBody>
      </p:sp>
      <p:pic>
        <p:nvPicPr>
          <p:cNvPr id="4" name="Picture 3" descr="phase_3_canary_cost_breakdow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24" y="960120"/>
            <a:ext cx="942347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Funding Gate and Forecast</a:t>
            </a:r>
          </a:p>
        </p:txBody>
      </p:sp>
      <p:sp>
        <p:nvSpPr>
          <p:cNvPr id="3" name="Rounded Rectangle 2">
            <a:hlinkClick r:id="rId3"/>
          </p:cNvPr>
          <p:cNvSpPr/>
          <p:nvPr/>
        </p:nvSpPr>
        <p:spPr>
          <a:xfrm>
            <a:off x="731520" y="118872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07592"/>
            <a:ext cx="30175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5-TASK 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01752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22C55E"/>
                </a:solidFill>
                <a:latin typeface="Aptos"/>
              </a:defRPr>
            </a:pPr>
            <a:r>
              <a:rPr>
                <a:latin typeface="Arial"/>
              </a:rPr>
              <a:t>$44.72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3017520" cy="4114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Recommended reserve: $89.44. Run first.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434840" y="118872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07592"/>
            <a:ext cx="30175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20 TASKS x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72768"/>
            <a:ext cx="301752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9E0B"/>
                </a:solidFill>
                <a:latin typeface="Aptos"/>
              </a:defRPr>
            </a:pPr>
            <a:r>
              <a:rPr>
                <a:latin typeface="Arial"/>
              </a:rPr>
              <a:t>$536.64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3017520" cy="4114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Reserve: $804.97. Approve after smoke.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8138160" y="118872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07592"/>
            <a:ext cx="30175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1">
                <a:solidFill>
                  <a:srgbClr val="475569"/>
                </a:solidFill>
                <a:latin typeface="Aptos"/>
              </a:defRPr>
            </a:pPr>
            <a:r>
              <a:rPr>
                <a:latin typeface="Arial"/>
              </a:rPr>
              <a:t>25 TASKS x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72768"/>
            <a:ext cx="301752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1D4ED8"/>
                </a:solidFill>
                <a:latin typeface="Aptos"/>
              </a:defRPr>
            </a:pPr>
            <a:r>
              <a:rPr>
                <a:latin typeface="Arial"/>
              </a:rPr>
              <a:t>$670.80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39112"/>
            <a:ext cx="3017520" cy="4114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00" b="0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Reserve: $1,006.21. Expanded coverage option.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10424160" cy="1234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600">
                <a:solidFill>
                  <a:srgbClr val="0B1020"/>
                </a:solidFill>
                <a:latin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</a:rPr>
              <a:t>Canary-scaled estimates are useful for order-of-magnitude planning only.</a:t>
            </a:r>
          </a:p>
          <a:p>
            <a:pPr algn="l"/>
            <a:r>
              <a:rPr sz="1800">
                <a:solidFill>
                  <a:srgbClr val="0F172A"/>
                </a:solidFill>
                <a:latin typeface="Aptos"/>
              </a:rPr>
              <a:t>GPT-5.5 and Gemini Flash were high-cost canary outliers.</a:t>
            </a:r>
          </a:p>
          <a:p>
            <a:pPr algn="l"/>
            <a:r>
              <a:rPr sz="1800">
                <a:solidFill>
                  <a:srgbClr val="0F172A"/>
                </a:solidFill>
                <a:latin typeface="Aptos"/>
              </a:rPr>
              <a:t>The ask is to fund the next statistically and financially sensible 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 sz="2300" b="1">
                <a:solidFill>
                  <a:srgbClr val="0B1020"/>
                </a:solidFill>
                <a:latin typeface="Arial"/>
              </a:rPr>
              <a:t>Recommended Next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051560"/>
            <a:ext cx="32461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1216151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Aptos"/>
              </a:rPr>
              <a:t>ACTION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1508760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850" b="1">
                <a:solidFill>
                  <a:srgbClr val="1D4ED8"/>
                </a:solidFill>
                <a:latin typeface="Aptos"/>
              </a:rPr>
              <a:t>Confirm exact 5-task smoke 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1051560"/>
            <a:ext cx="32461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1216151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Aptos"/>
              </a:rPr>
              <a:t>ACTION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1508760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Aptos"/>
              </a:rPr>
              <a:t>Approve smoke and/or full sweep budget plus reserve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1051560"/>
            <a:ext cx="32461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1" y="1216151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Aptos"/>
              </a:rPr>
              <a:t>ACTION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1508760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850" b="1">
                <a:solidFill>
                  <a:srgbClr val="1D4ED8"/>
                </a:solidFill>
                <a:latin typeface="Aptos"/>
              </a:rPr>
              <a:t>Run smoke across 13 active green router arms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4600" y="3063240"/>
            <a:ext cx="32461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3227832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Aptos"/>
              </a:rPr>
              <a:t>ACTION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9192" y="3520440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850" b="1">
                <a:solidFill>
                  <a:srgbClr val="1D4ED8"/>
                </a:solidFill>
                <a:latin typeface="Aptos"/>
              </a:rPr>
              <a:t>Re-run evidence extraction after smoke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063240"/>
            <a:ext cx="32461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227832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Aptos"/>
              </a:rPr>
              <a:t>ACTION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520440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850" b="1">
                <a:solidFill>
                  <a:srgbClr val="1D4ED8"/>
                </a:solidFill>
                <a:latin typeface="Aptos"/>
              </a:rPr>
              <a:t>Approve, resize, or defer full sweep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Appendix A: Metrics Collected and Planned</a:t>
            </a:r>
          </a:p>
        </p:txBody>
      </p:sp>
      <p:pic>
        <p:nvPicPr>
          <p:cNvPr id="3" name="Picture 2" descr="phase_3_metrics_plan_overview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24" y="960120"/>
            <a:ext cx="942347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0B1020"/>
                </a:solidFill>
                <a:latin typeface="Aptos"/>
              </a:defRPr>
            </a:pPr>
            <a:r>
              <a:rPr>
                <a:latin typeface="Arial"/>
              </a:rPr>
              <a:t>Appendix B: Evidence and Reproducibility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Phase 3 Router Benchmark |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19672"/>
            <a:ext cx="30175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rPr sz="600">
                <a:solidFill>
                  <a:srgbClr val="475569"/>
                </a:solidFill>
                <a:latin typeface="Arial"/>
              </a:rPr>
              <a:t>Evidence-backed sponsor briefing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777240" y="1078992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12"/>
          </p:cNvPr>
          <p:cNvSpPr txBox="1"/>
          <p:nvPr/>
        </p:nvSpPr>
        <p:spPr>
          <a:xfrm>
            <a:off x="914400" y="1152144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2"/>
              </a:rPr>
              <a:t>Canary evidence report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263640" y="1078992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r:id="rId13"/>
          </p:cNvPr>
          <p:cNvSpPr txBox="1"/>
          <p:nvPr/>
        </p:nvSpPr>
        <p:spPr>
          <a:xfrm>
            <a:off x="6400800" y="1152144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3"/>
              </a:rPr>
              <a:t>Canary ledger CSV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777240" y="1737360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r:id="rId14"/>
          </p:cNvPr>
          <p:cNvSpPr txBox="1"/>
          <p:nvPr/>
        </p:nvSpPr>
        <p:spPr>
          <a:xfrm>
            <a:off x="914400" y="1810512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4"/>
              </a:rPr>
              <a:t>Canary ledger JSON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263640" y="1737360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r:id="rId15"/>
          </p:cNvPr>
          <p:cNvSpPr txBox="1"/>
          <p:nvPr/>
        </p:nvSpPr>
        <p:spPr>
          <a:xfrm>
            <a:off x="6400800" y="1810512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5"/>
              </a:rPr>
              <a:t>Cost forecast CSV</a:t>
            </a:r>
          </a:p>
        </p:txBody>
      </p:sp>
      <p:sp>
        <p:nvSpPr>
          <p:cNvPr id="33" name="Rounded Rectangle 32">
            <a:hlinkClick r:id="rId16"/>
          </p:cNvPr>
          <p:cNvSpPr/>
          <p:nvPr/>
        </p:nvSpPr>
        <p:spPr>
          <a:xfrm>
            <a:off x="777240" y="2395728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r:id="rId16"/>
          </p:cNvPr>
          <p:cNvSpPr txBox="1"/>
          <p:nvPr/>
        </p:nvSpPr>
        <p:spPr>
          <a:xfrm>
            <a:off x="914400" y="2468880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6"/>
              </a:rPr>
              <a:t>Cost forecast summary</a:t>
            </a:r>
          </a:p>
        </p:txBody>
      </p:sp>
      <p:sp>
        <p:nvSpPr>
          <p:cNvPr id="35" name="Rounded Rectangle 34">
            <a:hlinkClick r:id="rId17"/>
          </p:cNvPr>
          <p:cNvSpPr/>
          <p:nvPr/>
        </p:nvSpPr>
        <p:spPr>
          <a:xfrm>
            <a:off x="6263640" y="2395728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r:id="rId17"/>
          </p:cNvPr>
          <p:cNvSpPr txBox="1"/>
          <p:nvPr/>
        </p:nvSpPr>
        <p:spPr>
          <a:xfrm>
            <a:off x="6400800" y="2468880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7"/>
              </a:rPr>
              <a:t>LiteLLM router config</a:t>
            </a:r>
          </a:p>
        </p:txBody>
      </p:sp>
      <p:sp>
        <p:nvSpPr>
          <p:cNvPr id="37" name="Rounded Rectangle 36">
            <a:hlinkClick r:id="rId18"/>
          </p:cNvPr>
          <p:cNvSpPr/>
          <p:nvPr/>
        </p:nvSpPr>
        <p:spPr>
          <a:xfrm>
            <a:off x="777240" y="3054096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r:id="rId18"/>
          </p:cNvPr>
          <p:cNvSpPr txBox="1"/>
          <p:nvPr/>
        </p:nvSpPr>
        <p:spPr>
          <a:xfrm>
            <a:off x="914400" y="3127248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8"/>
              </a:rPr>
              <a:t>Router arm configs</a:t>
            </a:r>
          </a:p>
        </p:txBody>
      </p:sp>
      <p:sp>
        <p:nvSpPr>
          <p:cNvPr id="39" name="Rounded Rectangle 38">
            <a:hlinkClick r:id="rId19"/>
          </p:cNvPr>
          <p:cNvSpPr/>
          <p:nvPr/>
        </p:nvSpPr>
        <p:spPr>
          <a:xfrm>
            <a:off x="6263640" y="3054096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r:id="rId19"/>
          </p:cNvPr>
          <p:cNvSpPr txBox="1"/>
          <p:nvPr/>
        </p:nvSpPr>
        <p:spPr>
          <a:xfrm>
            <a:off x="6400800" y="3127248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19"/>
              </a:rPr>
              <a:t>Contamination notes</a:t>
            </a:r>
          </a:p>
        </p:txBody>
      </p:sp>
      <p:sp>
        <p:nvSpPr>
          <p:cNvPr id="41" name="Rounded Rectangle 40">
            <a:hlinkClick r:id="rId20"/>
          </p:cNvPr>
          <p:cNvSpPr/>
          <p:nvPr/>
        </p:nvSpPr>
        <p:spPr>
          <a:xfrm>
            <a:off x="777240" y="3712463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r:id="rId20"/>
          </p:cNvPr>
          <p:cNvSpPr txBox="1"/>
          <p:nvPr/>
        </p:nvSpPr>
        <p:spPr>
          <a:xfrm>
            <a:off x="914400" y="3785615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20"/>
              </a:rPr>
              <a:t>Runbook</a:t>
            </a:r>
          </a:p>
        </p:txBody>
      </p:sp>
      <p:sp>
        <p:nvSpPr>
          <p:cNvPr id="43" name="Rounded Rectangle 42">
            <a:hlinkClick r:id="rId21"/>
          </p:cNvPr>
          <p:cNvSpPr/>
          <p:nvPr/>
        </p:nvSpPr>
        <p:spPr>
          <a:xfrm>
            <a:off x="6263640" y="3712463"/>
            <a:ext cx="5166360" cy="420624"/>
          </a:xfrm>
          <a:prstGeom prst="roundRect">
            <a:avLst/>
          </a:prstGeom>
          <a:solidFill>
            <a:srgbClr val="E0F2FE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>
            <a:hlinkClick r:id="rId21"/>
          </p:cNvPr>
          <p:cNvSpPr txBox="1"/>
          <p:nvPr/>
        </p:nvSpPr>
        <p:spPr>
          <a:xfrm>
            <a:off x="6400800" y="3785615"/>
            <a:ext cx="4892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Aptos"/>
                <a:hlinkClick r:id="rId21"/>
              </a:rPr>
              <a:t>Artifact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